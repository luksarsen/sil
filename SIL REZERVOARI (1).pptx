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Nunito"/>
      <p:regular r:id="rId13"/>
      <p:bold r:id="rId14"/>
      <p:italic r:id="rId15"/>
      <p:boldItalic r:id="rId16"/>
    </p:embeddedFont>
    <p:embeddedFont>
      <p:font typeface="Maven Pro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7" Type="http://schemas.openxmlformats.org/officeDocument/2006/relationships/font" Target="fonts/MavenPro-regular.fntdata"/><Relationship Id="rId16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MavenPr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520b36de5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f520b36de5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520b36de5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f520b36de5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f520b36de5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f520b36de5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f520b36de5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f520b36de5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f520b36de5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f520b36de5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f520b36de5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f520b36de5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993038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r">
                <a:latin typeface="Times New Roman"/>
                <a:ea typeface="Times New Roman"/>
                <a:cs typeface="Times New Roman"/>
                <a:sym typeface="Times New Roman"/>
              </a:rPr>
              <a:t>SIL - Sistem tri spojena rezervoara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11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r">
                <a:latin typeface="Times New Roman"/>
                <a:ea typeface="Times New Roman"/>
                <a:cs typeface="Times New Roman"/>
                <a:sym typeface="Times New Roman"/>
              </a:rPr>
              <a:t>RA 10/2023 - Nikola Zecevic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r">
                <a:latin typeface="Times New Roman"/>
                <a:ea typeface="Times New Roman"/>
                <a:cs typeface="Times New Roman"/>
                <a:sym typeface="Times New Roman"/>
              </a:rPr>
              <a:t>RA 15/2023 - Ivan Stojanovic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r">
                <a:latin typeface="Times New Roman"/>
                <a:ea typeface="Times New Roman"/>
                <a:cs typeface="Times New Roman"/>
                <a:sym typeface="Times New Roman"/>
              </a:rPr>
              <a:t>RA 92/2023 - Dimitrije Lazic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r">
                <a:latin typeface="Times New Roman"/>
                <a:ea typeface="Times New Roman"/>
                <a:cs typeface="Times New Roman"/>
                <a:sym typeface="Times New Roman"/>
              </a:rPr>
              <a:t>RA 188/2023 - Luka Arsenovic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idx="1" type="body"/>
          </p:nvPr>
        </p:nvSpPr>
        <p:spPr>
          <a:xfrm>
            <a:off x="1586400" y="3672875"/>
            <a:ext cx="5971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r" sz="1192">
                <a:latin typeface="Times New Roman"/>
                <a:ea typeface="Times New Roman"/>
                <a:cs typeface="Times New Roman"/>
                <a:sym typeface="Times New Roman"/>
              </a:rPr>
              <a:t>Model</a:t>
            </a:r>
            <a:endParaRPr sz="1192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sr" sz="1100">
                <a:latin typeface="Times New Roman"/>
                <a:ea typeface="Times New Roman"/>
                <a:cs typeface="Times New Roman"/>
                <a:sym typeface="Times New Roman"/>
              </a:rPr>
              <a:t>Ovo je matematički model koji koristi Toričelijev zakon sa 3 rezervoara, 2 ventila</a:t>
            </a:r>
            <a:r>
              <a:rPr lang="sr" sz="1100">
                <a:latin typeface="Times New Roman"/>
                <a:ea typeface="Times New Roman"/>
                <a:cs typeface="Times New Roman"/>
                <a:sym typeface="Times New Roman"/>
              </a:rPr>
              <a:t>(q12 i q23)</a:t>
            </a:r>
            <a:r>
              <a:rPr lang="sr" sz="1100">
                <a:latin typeface="Times New Roman"/>
                <a:ea typeface="Times New Roman"/>
                <a:cs typeface="Times New Roman"/>
                <a:sym typeface="Times New Roman"/>
              </a:rPr>
              <a:t> koji ih povezuju, izlazni ventil(q30) i ulazna pumpa(qP1). Koristi i dodatnu promenljivu curenje za realniji prikaz rezervoara.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sr" sz="1100">
                <a:latin typeface="Times New Roman"/>
                <a:ea typeface="Times New Roman"/>
                <a:cs typeface="Times New Roman"/>
                <a:sym typeface="Times New Roman"/>
              </a:rPr>
              <a:t>Matematički model je kontinualan i to vidimo na bilansu masa, gde integriramo te vrednsoti i šaljemo ih u sledeću iteraciju.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4" name="Google Shape;284;p14" title="100001263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3863" y="80825"/>
            <a:ext cx="6176275" cy="359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idx="1" type="body"/>
          </p:nvPr>
        </p:nvSpPr>
        <p:spPr>
          <a:xfrm>
            <a:off x="1310850" y="3842850"/>
            <a:ext cx="6522300" cy="11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r" sz="1100">
                <a:latin typeface="Times New Roman"/>
                <a:ea typeface="Times New Roman"/>
                <a:cs typeface="Times New Roman"/>
                <a:sym typeface="Times New Roman"/>
              </a:rPr>
              <a:t>SCADA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Char char="●"/>
            </a:pPr>
            <a:r>
              <a:rPr lang="sr" sz="1100">
                <a:latin typeface="Times New Roman"/>
                <a:ea typeface="Times New Roman"/>
                <a:cs typeface="Times New Roman"/>
                <a:sym typeface="Times New Roman"/>
              </a:rPr>
              <a:t>Računanje maksimalnog setpoint-a i njegov prikaz, prikaz greške, PID kontrola, visine tečnosti u rezervoarima, prikaz curenja i prekidačke kontorole za pokretanje i zaustavljanje programa.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0" name="Google Shape;290;p15" title="100001263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4312" y="59125"/>
            <a:ext cx="5942074" cy="378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idx="1" type="body"/>
          </p:nvPr>
        </p:nvSpPr>
        <p:spPr>
          <a:xfrm>
            <a:off x="1355250" y="3924125"/>
            <a:ext cx="6433500" cy="9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r" sz="1100">
                <a:latin typeface="Times New Roman"/>
                <a:ea typeface="Times New Roman"/>
                <a:cs typeface="Times New Roman"/>
                <a:sym typeface="Times New Roman"/>
              </a:rPr>
              <a:t>PID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Char char="●"/>
            </a:pPr>
            <a:r>
              <a:rPr lang="sr" sz="1100">
                <a:latin typeface="Times New Roman"/>
                <a:ea typeface="Times New Roman"/>
                <a:cs typeface="Times New Roman"/>
                <a:sym typeface="Times New Roman"/>
              </a:rPr>
              <a:t>Klasična implementacija PID regulatora za regulisanje upravljačkog signala. Dodatak je saturacija pumpe, dodate su gornja i donja granica da se spreči da izlaz predje fizičke granice.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6" name="Google Shape;296;p16" title="100001262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1637" y="88950"/>
            <a:ext cx="5720726" cy="3749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/>
          <p:nvPr>
            <p:ph idx="1" type="body"/>
          </p:nvPr>
        </p:nvSpPr>
        <p:spPr>
          <a:xfrm>
            <a:off x="1469700" y="4374925"/>
            <a:ext cx="62046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r" sz="2000">
                <a:latin typeface="Times New Roman"/>
                <a:ea typeface="Times New Roman"/>
                <a:cs typeface="Times New Roman"/>
                <a:sym typeface="Times New Roman"/>
              </a:rPr>
              <a:t>TAB CONTROL - prikaz greške i rezervoara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2" name="Google Shape;302;p17" title="100001262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2701" y="88700"/>
            <a:ext cx="6898599" cy="418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/>
          <p:cNvSpPr txBox="1"/>
          <p:nvPr>
            <p:ph idx="1" type="body"/>
          </p:nvPr>
        </p:nvSpPr>
        <p:spPr>
          <a:xfrm>
            <a:off x="1288350" y="4390250"/>
            <a:ext cx="65673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r" sz="2000">
                <a:latin typeface="Times New Roman"/>
                <a:ea typeface="Times New Roman"/>
                <a:cs typeface="Times New Roman"/>
                <a:sym typeface="Times New Roman"/>
              </a:rPr>
              <a:t>TAB CONTROL - prikaz grafova visina tečnosti u rezervoarima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8" name="Google Shape;308;p18" title="100001262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6625" y="87425"/>
            <a:ext cx="6890800" cy="4176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"/>
          <p:cNvSpPr txBox="1"/>
          <p:nvPr>
            <p:ph idx="1" type="body"/>
          </p:nvPr>
        </p:nvSpPr>
        <p:spPr>
          <a:xfrm>
            <a:off x="1650438" y="435332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r" sz="1800">
                <a:latin typeface="Times New Roman"/>
                <a:ea typeface="Times New Roman"/>
                <a:cs typeface="Times New Roman"/>
                <a:sym typeface="Times New Roman"/>
              </a:rPr>
              <a:t>Odziv programa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4" name="Google Shape;314;p19" title="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525" y="96075"/>
            <a:ext cx="7648951" cy="4057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